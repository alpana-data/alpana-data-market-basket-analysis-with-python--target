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  <p:sldId id="275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>
        <p:scale>
          <a:sx n="50" d="100"/>
          <a:sy n="50" d="100"/>
        </p:scale>
        <p:origin x="29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2409-DAA3-485B-9E34-85537292650E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14168-B87F-43BC-A1BE-1455A049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77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EB68-48E2-4147-B04B-5DD227B1FF0A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15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5655-6029-4F6E-95B1-2615BF9C3538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8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71E6-6DEE-4080-B043-DD9EFDD97E4A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7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E0B31-30B0-403C-95E9-7F882B8DCBC0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31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5C31-97E2-48E6-A9E1-811F40191422}" type="datetime1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3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45A1F-AC1D-461E-B311-E399FDFCD5B9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0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9A267-BF0C-47FC-A519-C10E2B2B6C4F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3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705-BC83-4F0E-9394-9AADE67D3289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1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99FA9-2E45-4155-8154-F5BC96B2C9E4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85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B48C8-984A-4E86-8C2F-B562643C3BF6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7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4ADB-53EA-4E0B-9C10-8772A2F6C0B1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0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CCF0-8E02-4CB2-A50B-D69BBA836719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3803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2358-A21B-48D6-AFF4-8306D72F90E0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33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129E-4AFB-4A05-9955-56BE7C1DBEFE}" type="datetime1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62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22B6-B533-4D4C-9F91-C8B93C48AE78}" type="datetime1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90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725B-EEAE-44D6-9027-BE1BC4026996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045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BE4F-686A-4221-AD5E-A51966B98648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09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4D9D0F-22ED-469B-8EC8-C034AD9F5928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81D1-9EEB-483B-B29B-4394BAAF1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956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1C17-301B-A13B-9560-99579F74A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514" y="1289029"/>
            <a:ext cx="10376540" cy="2677648"/>
          </a:xfrm>
        </p:spPr>
        <p:txBody>
          <a:bodyPr/>
          <a:lstStyle/>
          <a:p>
            <a:r>
              <a:rPr lang="en-US" dirty="0"/>
              <a:t>Market Basket Analysis with Python – Target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2E170-AF99-BC34-74B8-996D0B2236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Presented by: Alpana Prajapati</a:t>
            </a:r>
          </a:p>
          <a:p>
            <a:r>
              <a:rPr lang="en-IN" dirty="0"/>
              <a:t>Data Science Project</a:t>
            </a:r>
          </a:p>
          <a:p>
            <a:r>
              <a:rPr lang="en-IN" dirty="0"/>
              <a:t>Tools used : Python, Python libraries: Pandas, Seaborn, Matplotlib, Scikit-Learn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6C064-3914-0F15-A698-70F5C51C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9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E81F-10AE-B76A-23FF-DFD5F0EE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2FE33-F895-1DD0-E569-8BBA76F19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Target : Leading Global e-</a:t>
            </a:r>
            <a:r>
              <a:rPr lang="en-IN" dirty="0" err="1"/>
              <a:t>commerse</a:t>
            </a:r>
            <a:r>
              <a:rPr lang="en-IN" dirty="0"/>
              <a:t> platform </a:t>
            </a:r>
          </a:p>
          <a:p>
            <a:r>
              <a:rPr lang="en-IN" dirty="0"/>
              <a:t>Huge customer &amp; product data</a:t>
            </a:r>
          </a:p>
          <a:p>
            <a:r>
              <a:rPr lang="en-IN" dirty="0"/>
              <a:t>Goal: Improve personalization &amp; Sales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25099-5268-6976-F5E1-477ACFF3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74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322E-D758-B2AF-9437-86FCBFB3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CE40-F9D6-0D07-A0A3-086255A8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Which products are bought together?</a:t>
            </a:r>
          </a:p>
          <a:p>
            <a:r>
              <a:rPr lang="en-IN" dirty="0"/>
              <a:t>Customer behaviour across demographics</a:t>
            </a:r>
          </a:p>
          <a:p>
            <a:r>
              <a:rPr lang="en-IN" dirty="0"/>
              <a:t>Customer segmentation</a:t>
            </a:r>
          </a:p>
          <a:p>
            <a:r>
              <a:rPr lang="en-IN" dirty="0"/>
              <a:t>Improve recommendations &amp; loyalty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D54AC-FDF4-25BB-B568-BCDB016B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68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5EAE-18F5-9259-1E3E-E67B8B0B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9801-10D8-2C6D-C9C6-E00282D60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C8D0-3B57-6CD8-A983-957670CED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Customer behaviour and  Product Recommendation Report</a:t>
            </a:r>
          </a:p>
          <a:p>
            <a:r>
              <a:rPr lang="en-IN" dirty="0"/>
              <a:t>Apply market Basket Analysis  techniques</a:t>
            </a:r>
          </a:p>
          <a:p>
            <a:r>
              <a:rPr lang="en-IN" dirty="0"/>
              <a:t>Perform clustering &amp; segmentation</a:t>
            </a:r>
          </a:p>
          <a:p>
            <a:r>
              <a:rPr lang="en-IN" dirty="0"/>
              <a:t>Generate actionable insights for </a:t>
            </a:r>
            <a:r>
              <a:rPr lang="en-US" dirty="0"/>
              <a:t>personalized product recommendations, promotional strategies, and inventory optimization.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7C5CC-70A6-05D6-077D-381C34E2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27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A937-A3DD-9BE6-35C8-C49E13EB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C46A-6372-05C2-F9C8-BF487E21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4786-2D83-D99B-8E1C-DAB8F7E4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Customer Demographics</a:t>
            </a:r>
          </a:p>
          <a:p>
            <a:r>
              <a:rPr lang="en-IN" dirty="0"/>
              <a:t>Purchase Frequency</a:t>
            </a:r>
          </a:p>
          <a:p>
            <a:r>
              <a:rPr lang="en-IN" dirty="0"/>
              <a:t>Browsing behaviour</a:t>
            </a:r>
          </a:p>
          <a:p>
            <a:r>
              <a:rPr lang="en-IN" dirty="0"/>
              <a:t>Satisfaction &amp; Reviews </a:t>
            </a:r>
          </a:p>
          <a:p>
            <a:r>
              <a:rPr lang="en-IN" dirty="0"/>
              <a:t>Recommendation helpfulness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7C437-ABC3-7C8E-2EB7-CFEE5DE7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82" y="1242908"/>
            <a:ext cx="5816327" cy="54837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05FD-7368-0BD4-2EB2-8B44963F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9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91CB-6A40-C1CF-BE02-7286A0C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Tasks Performed and Their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53831-D1D6-16E9-6D19-01CE80369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cleaning: </a:t>
            </a:r>
          </a:p>
          <a:p>
            <a:pPr lvl="1"/>
            <a:r>
              <a:rPr lang="en-IN" dirty="0"/>
              <a:t>Removed duplicates</a:t>
            </a:r>
          </a:p>
          <a:p>
            <a:pPr lvl="1"/>
            <a:r>
              <a:rPr lang="en-IN" dirty="0"/>
              <a:t>Handled missing values</a:t>
            </a:r>
          </a:p>
          <a:p>
            <a:pPr lvl="1"/>
            <a:r>
              <a:rPr lang="en-IN" dirty="0"/>
              <a:t>Standardised categories</a:t>
            </a:r>
          </a:p>
          <a:p>
            <a:pPr lvl="1"/>
            <a:r>
              <a:rPr lang="en-IN" dirty="0"/>
              <a:t>converted data types.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400E-3B7C-CF21-33C9-00C21F2D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79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12EA-C25C-D4DD-4202-A7483E31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FCA0-8D45-3D28-01D0-A4491CB8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59" y="251554"/>
            <a:ext cx="4415444" cy="1014788"/>
          </a:xfrm>
        </p:spPr>
        <p:txBody>
          <a:bodyPr>
            <a:normAutofit fontScale="90000"/>
          </a:bodyPr>
          <a:lstStyle/>
          <a:p>
            <a:r>
              <a:rPr lang="en-IN" dirty="0"/>
              <a:t>Descriptive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3253-F574-CEC1-7552-0D9F08A67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6" y="1914651"/>
            <a:ext cx="11116745" cy="479705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Descriptive Analysis: </a:t>
            </a:r>
          </a:p>
          <a:p>
            <a:r>
              <a:rPr lang="en-IN" dirty="0"/>
              <a:t>Age Distribution </a:t>
            </a:r>
          </a:p>
          <a:p>
            <a:r>
              <a:rPr lang="en-IN" dirty="0"/>
              <a:t>Purchase frequency</a:t>
            </a:r>
          </a:p>
          <a:p>
            <a:r>
              <a:rPr lang="en-IN" dirty="0"/>
              <a:t>Popular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6E596-58C9-0E37-5D83-D532641F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59" y="3422588"/>
            <a:ext cx="5115298" cy="3370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329F79-E3E5-0589-6BF6-61C41BFE6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27" y="3462196"/>
            <a:ext cx="4875903" cy="3317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F4E3A0-10A7-E07B-D148-AB1941F87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427" y="137982"/>
            <a:ext cx="5393504" cy="309707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68B364-9ABE-5A04-7F25-EE34FC7F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1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EE73-271F-A583-4B0F-F0436E28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</a:t>
            </a:r>
            <a:r>
              <a:rPr lang="en-IN" dirty="0" err="1"/>
              <a:t>Behavior</a:t>
            </a:r>
            <a:r>
              <a:rPr lang="en-IN" dirty="0"/>
              <a:t> Insights: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065AE-C753-CB2E-0D23-F31812D1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0" y="1331258"/>
            <a:ext cx="8946541" cy="4195481"/>
          </a:xfrm>
        </p:spPr>
        <p:txBody>
          <a:bodyPr/>
          <a:lstStyle/>
          <a:p>
            <a:pPr lvl="1"/>
            <a:r>
              <a:rPr lang="en-IN" dirty="0"/>
              <a:t>Most users are frequent browsers</a:t>
            </a:r>
          </a:p>
          <a:p>
            <a:pPr lvl="1"/>
            <a:r>
              <a:rPr lang="en-IN" dirty="0"/>
              <a:t>Cart abandon reasons </a:t>
            </a:r>
          </a:p>
          <a:p>
            <a:pPr lvl="1"/>
            <a:r>
              <a:rPr lang="en-IN" dirty="0"/>
              <a:t>Popular browsing methods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D917A-B3E1-EC28-36BE-7A4C4799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72" y="1475980"/>
            <a:ext cx="6187976" cy="503725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38B4BF-BF4A-84E7-AFF5-4CFC0360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5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21799B-DAD0-1782-F8D7-07F3F4F8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06" y="1587568"/>
            <a:ext cx="6578495" cy="393931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4B52D87-A2AA-44C3-12B9-43B76BA40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6750" y="1331118"/>
            <a:ext cx="5173543" cy="440935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BB4010-BA53-0A60-F0DB-5FF8C241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6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5246-BED9-84D5-EE20-9C09131D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4681-EF03-6118-DA54-E2661315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0834-E6D0-5CAC-3B1C-F4022DE8A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Frequent Buyers </a:t>
            </a:r>
          </a:p>
          <a:p>
            <a:r>
              <a:rPr lang="en-IN" dirty="0"/>
              <a:t> Occasional Shoppers</a:t>
            </a:r>
          </a:p>
          <a:p>
            <a:r>
              <a:rPr lang="en-IN" dirty="0"/>
              <a:t>At-Risk Customers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ED57D-B510-5FA5-0C8C-3EE73544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49" y="1825625"/>
            <a:ext cx="7011366" cy="48789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152A0-25DA-7267-2C86-485D7B2D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21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C845-0E1C-D726-D8B8-756BC7F0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BD76-5BB9-8548-D2E2-D8D4B3F5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56" y="225114"/>
            <a:ext cx="9404723" cy="1400530"/>
          </a:xfrm>
        </p:spPr>
        <p:txBody>
          <a:bodyPr/>
          <a:lstStyle/>
          <a:p>
            <a:r>
              <a:rPr lang="en-IN" dirty="0"/>
              <a:t>Clustering (K-Means)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88A6F-0E64-3EC7-E858-9CB7B6385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56" y="2382856"/>
            <a:ext cx="8946541" cy="4195481"/>
          </a:xfrm>
        </p:spPr>
        <p:txBody>
          <a:bodyPr/>
          <a:lstStyle/>
          <a:p>
            <a:r>
              <a:rPr lang="en-IN" dirty="0"/>
              <a:t>Used K-Means Clustering</a:t>
            </a:r>
          </a:p>
          <a:p>
            <a:r>
              <a:rPr lang="en-IN" dirty="0"/>
              <a:t>Grouped based on behaviour</a:t>
            </a:r>
          </a:p>
          <a:p>
            <a:r>
              <a:rPr lang="en-IN" dirty="0"/>
              <a:t>Identified patterns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Cluster profiling revealed distinct customer segments based on purchase behavior and satisfaction levels, helping identify loyal customers, at-risk users, and potential growth segments.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65C53-271F-8FB1-6603-C5B7FAF3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819" y="478246"/>
            <a:ext cx="6187976" cy="443522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B9346-FF90-4348-A67D-A483121C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3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5CB5-E0A8-E6A0-61E7-B5005ECD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997F-FE8E-852D-CC58-083F401D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774C3-DC90-8E7D-687C-C4E4C9051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4" y="1193201"/>
            <a:ext cx="8946541" cy="4195481"/>
          </a:xfrm>
        </p:spPr>
        <p:txBody>
          <a:bodyPr/>
          <a:lstStyle/>
          <a:p>
            <a:r>
              <a:rPr lang="en-IN" dirty="0"/>
              <a:t>Recommendations improve satisfaction</a:t>
            </a:r>
          </a:p>
          <a:p>
            <a:r>
              <a:rPr lang="en-IN" dirty="0"/>
              <a:t>Review reliability impacts trust</a:t>
            </a:r>
          </a:p>
          <a:p>
            <a:r>
              <a:rPr lang="en-IN" dirty="0"/>
              <a:t>Personalized suggestions increase 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714F3-5299-5C38-2CDB-0F1F9497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4" y="2593731"/>
            <a:ext cx="5506502" cy="4153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351B4-BF81-DFC1-D3B3-9DB18604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82" y="2593731"/>
            <a:ext cx="6232774" cy="415366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669BE3-A79F-96E4-4E42-0AC29904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4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F946-EC30-E590-F62C-B7D73F3B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CF82DF-B0AF-17B1-C52E-3C73A90AE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75" y="1372800"/>
            <a:ext cx="5992925" cy="4424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AEBE24-0D29-FF8D-E82C-C0BB4BFAD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77" y="1372800"/>
            <a:ext cx="5364835" cy="45755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86F3C8-3AB4-89BC-1C78-00623D92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245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B83C-E009-754B-E196-D5E464C2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EC26-11F3-87C4-4A1D-56E5E257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E7A83-3367-9552-9FEE-CA3BB749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16" y="1477883"/>
            <a:ext cx="8946541" cy="4195481"/>
          </a:xfrm>
        </p:spPr>
        <p:txBody>
          <a:bodyPr/>
          <a:lstStyle/>
          <a:p>
            <a:r>
              <a:rPr lang="en-IN" dirty="0"/>
              <a:t>Bar chart (Purchase Categories, Browsing frequency)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92ADF-C129-29B2-5829-5053F799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8" y="1893256"/>
            <a:ext cx="5607334" cy="4805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F7B50-EEBE-6C2A-0158-F8F61A701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813" y="1861982"/>
            <a:ext cx="5495740" cy="483654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1238B4-E664-0FF2-764D-3B226AF5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059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3D53-D13F-EE5F-9BAF-558C3939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633"/>
            <a:ext cx="10515600" cy="5894330"/>
          </a:xfrm>
        </p:spPr>
        <p:txBody>
          <a:bodyPr/>
          <a:lstStyle/>
          <a:p>
            <a:r>
              <a:rPr lang="en-IN" dirty="0"/>
              <a:t>Pie chart (Satisfaction levels)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D433F-40C4-64C9-9950-5BB7D455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479" y="818726"/>
            <a:ext cx="6693545" cy="587048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DE6A5-D0D4-212A-7E24-6CBB6275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38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A628-3E02-0881-BE3D-27758F2B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31"/>
            <a:ext cx="10515600" cy="5960832"/>
          </a:xfrm>
        </p:spPr>
        <p:txBody>
          <a:bodyPr/>
          <a:lstStyle/>
          <a:p>
            <a:r>
              <a:rPr lang="en-IN" dirty="0"/>
              <a:t>Correlation between recommendation usefulness and satisfaction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FFCFE-F6DB-5ECC-9628-7BBB55A59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93" y="647368"/>
            <a:ext cx="7098986" cy="59945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E4B22-F40E-FBFF-306B-420E3D57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977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16BE-FA6D-878D-2353-85C32D49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8431-859A-093B-ECC1-368B53A8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High satisfaction = higher purchases</a:t>
            </a:r>
          </a:p>
          <a:p>
            <a:r>
              <a:rPr lang="en-IN" dirty="0"/>
              <a:t>High At-Risk Customers</a:t>
            </a:r>
          </a:p>
          <a:p>
            <a:r>
              <a:rPr lang="en-US" dirty="0"/>
              <a:t>Majority users browse Multiple times a day</a:t>
            </a:r>
            <a:endParaRPr lang="en-IN" dirty="0"/>
          </a:p>
          <a:p>
            <a:r>
              <a:rPr lang="en-IN" dirty="0"/>
              <a:t>Recommendations influence decisions: </a:t>
            </a:r>
            <a:r>
              <a:rPr lang="en-US" dirty="0"/>
              <a:t>Customers don’t find recommendations significantly helpful → low correlation</a:t>
            </a:r>
            <a:endParaRPr lang="en-IN" dirty="0"/>
          </a:p>
          <a:p>
            <a:r>
              <a:rPr lang="en-US" dirty="0"/>
              <a:t>Certain products are frequently bought together: Beauty &amp; personal care and Clothing &amp; Fashion</a:t>
            </a:r>
          </a:p>
          <a:p>
            <a:r>
              <a:rPr lang="en-US" dirty="0"/>
              <a:t>The analysis indicates that customer trust in personalized recommendations remains relatively consistent across different levels of engagement.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25B97-C45E-219D-1BD1-EBEDEA0A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06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B0D8-0495-5288-6911-F5236700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11BD1-3EE1-C058-95AA-9ADDE94E0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Improve recommendation system</a:t>
            </a:r>
          </a:p>
          <a:p>
            <a:r>
              <a:rPr lang="en-IN" dirty="0"/>
              <a:t>Target frequent buyers</a:t>
            </a:r>
          </a:p>
          <a:p>
            <a:r>
              <a:rPr lang="en-IN" dirty="0"/>
              <a:t>Reduce cart abandonment</a:t>
            </a:r>
          </a:p>
          <a:p>
            <a:r>
              <a:rPr lang="en-IN" dirty="0"/>
              <a:t>Optimize inventory on top performing categories</a:t>
            </a:r>
          </a:p>
          <a:p>
            <a:r>
              <a:rPr lang="en-IN" dirty="0"/>
              <a:t>From Customer satisfaction analysis:  </a:t>
            </a:r>
            <a:r>
              <a:rPr lang="en-US" dirty="0"/>
              <a:t>Maintain service quality while improving weak areas</a:t>
            </a:r>
          </a:p>
          <a:p>
            <a:r>
              <a:rPr lang="en-US" dirty="0"/>
              <a:t>Focus on multiple factors such as service quality, pricing, and personalization to enhance overall user experience.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7DB3C-4E4A-06A5-345B-FE02165A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8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DC2-29DD-9DE7-8FE5-83F1DDAF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EB6DA-DD6F-7550-4B04-9D5A8FB9F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Data-Driven insights achieved </a:t>
            </a:r>
          </a:p>
          <a:p>
            <a:r>
              <a:rPr lang="en-IN" dirty="0"/>
              <a:t>Improved customer understanding</a:t>
            </a:r>
          </a:p>
          <a:p>
            <a:r>
              <a:rPr lang="en-IN" dirty="0"/>
              <a:t>Supports better decision making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C021C-73DB-E31E-2B06-B253B97E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4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513EDE-472F-C6F0-1CCD-8A9440855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4887" y="-1023731"/>
            <a:ext cx="14630400" cy="9753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78AA4-4356-BA7F-B5EE-32028260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81D1-9EEB-483B-B29B-4394BAAF146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63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383</Words>
  <Application>Microsoft Office PowerPoint</Application>
  <PresentationFormat>Widescreen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Ion</vt:lpstr>
      <vt:lpstr>Market Basket Analysis with Python – Target</vt:lpstr>
      <vt:lpstr>Project Overview </vt:lpstr>
      <vt:lpstr>Business Problem </vt:lpstr>
      <vt:lpstr>Objective</vt:lpstr>
      <vt:lpstr>Dataset Overview</vt:lpstr>
      <vt:lpstr>Tasks Performed and Their Outcomes</vt:lpstr>
      <vt:lpstr>Descriptive Analysis</vt:lpstr>
      <vt:lpstr>Customer Behavior Insights: </vt:lpstr>
      <vt:lpstr>PowerPoint Presentation</vt:lpstr>
      <vt:lpstr>Customer Segmentation</vt:lpstr>
      <vt:lpstr>Clustering (K-Means)</vt:lpstr>
      <vt:lpstr>Recommendation Insights</vt:lpstr>
      <vt:lpstr>PowerPoint Presentation</vt:lpstr>
      <vt:lpstr>Visualizations</vt:lpstr>
      <vt:lpstr>PowerPoint Presentation</vt:lpstr>
      <vt:lpstr>PowerPoint Presentation</vt:lpstr>
      <vt:lpstr>Key Findings</vt:lpstr>
      <vt:lpstr>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Alpana Prajapati</dc:creator>
  <cp:lastModifiedBy>Alpana Prajapati</cp:lastModifiedBy>
  <cp:revision>1</cp:revision>
  <dcterms:created xsi:type="dcterms:W3CDTF">2026-04-11T09:23:32Z</dcterms:created>
  <dcterms:modified xsi:type="dcterms:W3CDTF">2026-04-11T10:13:37Z</dcterms:modified>
</cp:coreProperties>
</file>